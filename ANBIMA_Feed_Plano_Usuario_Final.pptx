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c27ed6ce2244ae" /><Relationship Type="http://schemas.openxmlformats.org/officeDocument/2006/relationships/extended-properties" Target="/docProps/app.xml" Id="R1b21b0a0b8e94be8" /><Relationship Type="http://schemas.openxmlformats.org/officeDocument/2006/relationships/officeDocument" Target="/ppt/presentation.xml" Id="Rafdc0305cdf14c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7a39c36a0a4077"/>
  </p:sldMasterIdLst>
  <p:notesMasterIdLst>
    <p:notesMasterId xmlns:r="http://schemas.openxmlformats.org/officeDocument/2006/relationships" r:id="R9601b3644433401e"/>
  </p:notesMasterIdLst>
  <p:sldIdLst>
    <p:sldId xmlns:r="http://schemas.openxmlformats.org/officeDocument/2006/relationships" id="256" r:id="Rfa65f18ebf6a400f"/>
    <p:sldId xmlns:r="http://schemas.openxmlformats.org/officeDocument/2006/relationships" id="257" r:id="Rfa916517401b439b"/>
    <p:sldId xmlns:r="http://schemas.openxmlformats.org/officeDocument/2006/relationships" id="258" r:id="Rc2941cd7de3e4ee3"/>
    <p:sldId xmlns:r="http://schemas.openxmlformats.org/officeDocument/2006/relationships" id="259" r:id="Ra9a59dd9007e4806"/>
    <p:sldId xmlns:r="http://schemas.openxmlformats.org/officeDocument/2006/relationships" id="260" r:id="R483b3902c4e94046"/>
    <p:sldId xmlns:r="http://schemas.openxmlformats.org/officeDocument/2006/relationships" id="261" r:id="R65685a32be074457"/>
    <p:sldId xmlns:r="http://schemas.openxmlformats.org/officeDocument/2006/relationships" id="262" r:id="Rcfa52d7544fc4191"/>
    <p:sldId xmlns:r="http://schemas.openxmlformats.org/officeDocument/2006/relationships" id="263" r:id="R89a5b89905ce4c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b4c5cf20f84523" /><Relationship Type="http://schemas.openxmlformats.org/officeDocument/2006/relationships/slideMaster" Target="/ppt/slideMasters/slideMaster1.xml" Id="R4e7a39c36a0a4077" /><Relationship Type="http://schemas.openxmlformats.org/officeDocument/2006/relationships/notesMaster" Target="/ppt/notesMasters/notesMaster1.xml" Id="R9601b3644433401e" /><Relationship Type="http://schemas.openxmlformats.org/officeDocument/2006/relationships/presProps" Target="/ppt/presProps.xml" Id="R66d76254a11d4141" /><Relationship Type="http://schemas.openxmlformats.org/officeDocument/2006/relationships/tableStyles" Target="/ppt/tableStyles.xml" Id="Rcbf33979881044c6" /><Relationship Type="http://schemas.openxmlformats.org/officeDocument/2006/relationships/slide" Target="/ppt/slides/slide1.xml" Id="Rfa65f18ebf6a400f" /><Relationship Type="http://schemas.openxmlformats.org/officeDocument/2006/relationships/slide" Target="/ppt/slides/slide2.xml" Id="Rfa916517401b439b" /><Relationship Type="http://schemas.openxmlformats.org/officeDocument/2006/relationships/slide" Target="/ppt/slides/slide3.xml" Id="Rc2941cd7de3e4ee3" /><Relationship Type="http://schemas.openxmlformats.org/officeDocument/2006/relationships/slide" Target="/ppt/slides/slide4.xml" Id="Ra9a59dd9007e4806" /><Relationship Type="http://schemas.openxmlformats.org/officeDocument/2006/relationships/slide" Target="/ppt/slides/slide5.xml" Id="R483b3902c4e94046" /><Relationship Type="http://schemas.openxmlformats.org/officeDocument/2006/relationships/slide" Target="/ppt/slides/slide6.xml" Id="R65685a32be074457" /><Relationship Type="http://schemas.openxmlformats.org/officeDocument/2006/relationships/slide" Target="/ppt/slides/slide7.xml" Id="Rcfa52d7544fc4191" /><Relationship Type="http://schemas.openxmlformats.org/officeDocument/2006/relationships/slide" Target="/ppt/slides/slide8.xml" Id="R89a5b89905ce4c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9dbe52d27848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89687312ad4160" /><Relationship Type="http://schemas.openxmlformats.org/officeDocument/2006/relationships/notesMaster" Target="/ppt/notesMasters/notesMaster1.xml" Id="R708fba8ef29e4f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c4253f955946ba" /><Relationship Type="http://schemas.openxmlformats.org/officeDocument/2006/relationships/notesMaster" Target="/ppt/notesMasters/notesMaster1.xml" Id="R2ab0d357fa984e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3248aed06e4f1a" /><Relationship Type="http://schemas.openxmlformats.org/officeDocument/2006/relationships/notesMaster" Target="/ppt/notesMasters/notesMaster1.xml" Id="R6ed643d35d7f49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e246b56554480c" /><Relationship Type="http://schemas.openxmlformats.org/officeDocument/2006/relationships/notesMaster" Target="/ppt/notesMasters/notesMaster1.xml" Id="R1f7444759c1e40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cfa81bc50a458b" /><Relationship Type="http://schemas.openxmlformats.org/officeDocument/2006/relationships/notesMaster" Target="/ppt/notesMasters/notesMaster1.xml" Id="R71e925d2367743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d268b9a875422e" /><Relationship Type="http://schemas.openxmlformats.org/officeDocument/2006/relationships/notesMaster" Target="/ppt/notesMasters/notesMaster1.xml" Id="R739d05578f064a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832a2863884f19" /><Relationship Type="http://schemas.openxmlformats.org/officeDocument/2006/relationships/notesMaster" Target="/ppt/notesMasters/notesMaster1.xml" Id="R77a3615ab51a43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5ca3cd2eab4f89" /><Relationship Type="http://schemas.openxmlformats.org/officeDocument/2006/relationships/notesMaster" Target="/ppt/notesMasters/notesMaster1.xml" Id="R5fe04b0346d24f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Repositório do projeto: https://github.com/Mateus-HDI/ANBIMA-DATA/blob/main/argumentos.txt</a:t>
            </a:r>
          </a:p>
          <a:p xmlns:a="http://schemas.openxmlformats.org/drawingml/2006/main">
            <a:r>
              <a:t>Material comercial: https://github.com/Mateus-HDI/ANBIMA-DATA/blob/main/ApresentacaoComercial_ANBIMA.pdf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Repositório do projeto e necessidade de contratação: https://github.com/Mateus-HDI/ANBIMA-DATA/blob/main/argumentos.txt</a:t>
            </a:r>
          </a:p>
          <a:p xmlns:a="http://schemas.openxmlformats.org/drawingml/2006/main">
            <a:r>
              <a:t>A afirmação sobre mudança/descontinuação é apresentada conforme a orientação registrada no repositório; confirmar o cronograma diretamente com a ANBIMA antes da contratação.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Benefícios e usos da API: https://github.com/Mateus-HDI/ANBIMA-DATA/blob/main/ApresentacaoComercial_ANBIMA.pdf (slides 2–3).</a:t>
            </a:r>
          </a:p>
          <a:p xmlns:a="http://schemas.openxmlformats.org/drawingml/2006/main">
            <a:r>
              <a:t>Necessidade de substituir o uso de dados gratuitos: https://github.com/Mateus-HDI/ANBIMA-DATA/blob/main/argumentos.txt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Escopo do pacote Títulos Públicos e periodicidade dos dados: https://github.com/Mateus-HDI/ANBIMA-DATA/blob/main/ApresentacaoComercial_ANBIMA.pdf (slides 8–9).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Descrição do funcionamento das APIs e usos possíveis: https://github.com/Mateus-HDI/ANBIMA-DATA/blob/main/ApresentacaoComercial_ANBIMA.pdf (slide 3).</a:t>
            </a:r>
          </a:p>
          <a:p xmlns:a="http://schemas.openxmlformats.org/drawingml/2006/main">
            <a:r>
              <a:t>O fluxo de integração é uma representação operacional proposta para a HDI, baseada nos usos descritos no material comercial.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Definição do plano Usuário final e restrição de distribuição: https://github.com/Mateus-HDI/ANBIMA-DATA/blob/main/ApresentacaoComercial_ANBIMA.pdf (slides 4–5).</a:t>
            </a:r>
          </a:p>
          <a:p xmlns:a="http://schemas.openxmlformats.org/drawingml/2006/main">
            <a:r>
              <a:t>Perfil institucional e foco em Renda Fixa Brasileira: https://github.com/Mateus-HDI/ANBIMA-DATA/blob/main/argumentos.txt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Preço de referência do pacote Títulos Públicos no plano Usuário final: https://github.com/Mateus-HDI/ANBIMA-DATA/blob/main/ApresentacaoComercial_ANBIMA.pdf (slide 4).</a:t>
            </a:r>
          </a:p>
          <a:p xmlns:a="http://schemas.openxmlformats.org/drawingml/2006/main">
            <a:r>
              <a:t>O valor anual é cálculo simples de 12 x R$ 686,50; confirmar preço, impostos, reajustes e condições na proposta comercial atual.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Recomendação baseada no objetivo registrado no repositório: https://github.com/Mateus-HDI/ANBIMA-DATA/blob/main/argumentos.txt</a:t>
            </a:r>
          </a:p>
          <a:p xmlns:a="http://schemas.openxmlformats.org/drawingml/2006/main">
            <a:r>
              <a:t>Escopo, sandbox e contratação: https://github.com/Mateus-HDI/ANBIMA-DATA/blob/main/ApresentacaoComercial_ANBIMA.pdf (slides 3–7).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2367c8f1647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d03750f0ea4fe9" /><Relationship Type="http://schemas.openxmlformats.org/officeDocument/2006/relationships/slideLayout" Target="/ppt/slideLayouts/slideLayout1.xml" Id="Ra4c7d350269c4a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c7d350269c4a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264399c634948" /><Relationship Type="http://schemas.openxmlformats.org/officeDocument/2006/relationships/notesSlide" Target="/ppt/notesSlides/notesSlide1.xml" Id="Rb827da31ade04e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23a5ea37b4bac" /><Relationship Type="http://schemas.openxmlformats.org/officeDocument/2006/relationships/notesSlide" Target="/ppt/notesSlides/notesSlide2.xml" Id="R29bbcb4f779045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dd881def64948" /><Relationship Type="http://schemas.openxmlformats.org/officeDocument/2006/relationships/notesSlide" Target="/ppt/notesSlides/notesSlide3.xml" Id="Rfdd8b29d75d342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df00bc9a841ee" /><Relationship Type="http://schemas.openxmlformats.org/officeDocument/2006/relationships/notesSlide" Target="/ppt/notesSlides/notesSlide4.xml" Id="R58f70b13c5f942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3659d32eb4a12" /><Relationship Type="http://schemas.openxmlformats.org/officeDocument/2006/relationships/notesSlide" Target="/ppt/notesSlides/notesSlide5.xml" Id="R0f5d119b9ae642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d7255822546f0" /><Relationship Type="http://schemas.openxmlformats.org/officeDocument/2006/relationships/notesSlide" Target="/ppt/notesSlides/notesSlide6.xml" Id="Rb8cb5d598a9443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d7574ae0c43fd" /><Relationship Type="http://schemas.openxmlformats.org/officeDocument/2006/relationships/notesSlide" Target="/ppt/notesSlides/notesSlide7.xml" Id="R7ce140f6f50b47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3fa7eba2a4289" /><Relationship Type="http://schemas.openxmlformats.org/officeDocument/2006/relationships/notesSlide" Target="/ppt/notesSlides/notesSlide8.xml" Id="R84ba1383c4c14b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90908-513F-4BFF-8426-2FF30D38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5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ANBIMA Feed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7E9C1-40A5-44DA-ADBF-D7623516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Plano de Usuário Final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1C42A-117B-4CA2-B046-ED4EB229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881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4D525A"/>
                </a:solidFill>
                <a:latin typeface="Arial"/>
                <a:ea typeface="Arial"/>
                <a:cs typeface="Arial"/>
              </a:rPr>
              <a:t>Continuidade e confiabilidade para a operação de Renda Fixa Brasileira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D3462-2798-43A5-9837-5BCBE10D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619250"/>
            <a:ext cx="2524125" cy="2524125"/>
          </a:xfrm>
          <a:prstGeom xmlns:a="http://schemas.openxmlformats.org/drawingml/2006/main" prst="roundRect">
            <a:avLst>
              <a:gd name="adj" fmla="val 49811"/>
            </a:avLst>
          </a:prstGeom>
          <a:solidFill xmlns:a="http://schemas.openxmlformats.org/drawingml/2006/main">
            <a:srgbClr val="D7F0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2E274-37CC-4EBE-9007-94D00871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171700"/>
            <a:ext cx="1762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437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API</a:t>
            </a:r>
          </a:p>
          <a:p xmlns:a="http://schemas.openxmlformats.org/drawingml/2006/main">
            <a:pPr algn="ctr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  <a:p xmlns:a="http://schemas.openxmlformats.org/drawingml/2006/main">
            <a:pPr algn="ctr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base interna</a:t>
            </a:r>
          </a:p>
          <a:p xmlns:a="http://schemas.openxmlformats.org/drawingml/2006/main">
            <a:pPr algn="ctr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  <a:p xmlns:a="http://schemas.openxmlformats.org/drawingml/2006/main">
            <a:pPr algn="ctr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decisão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F6DA7-8115-4A67-8128-F0C7D6B7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912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D525A"/>
                </a:solidFill>
                <a:latin typeface="Arial"/>
                <a:ea typeface="Arial"/>
                <a:cs typeface="Arial"/>
              </a:rPr>
              <a:t>Proposta para aprovação de contratação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1DBC2-53B6-4B5A-99B9-5EE71C03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1912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D525A"/>
                </a:solidFill>
                <a:latin typeface="Arial"/>
                <a:ea typeface="Arial"/>
                <a:cs typeface="Arial"/>
              </a:rPr>
              <a:t>HDI Seguros | Investimentos</a:t>
            </a:r>
          </a:p>
        </p:txBody>
      </p:sp>
    </p:spTree>
    <p:extLst>
      <p:ext uri="{BB962C8B-B14F-4D97-AF65-F5344CB8AC3E}">
        <p14:creationId xmlns:p14="http://schemas.microsoft.com/office/powerpoint/2010/main" val="11413310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6D016F-08F2-409D-ABA3-A0460569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decisão é sobre continuidade operacional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026D2-8302-4C01-9D20-44BDE3BE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484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0D08D-ED5C-4C49-AE8C-D2B1ADE6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5618C-7B0B-4972-A4EB-0BD59E5C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19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4D525A"/>
                </a:solidFill>
                <a:latin typeface="Arial"/>
                <a:ea typeface="Arial"/>
                <a:cs typeface="Arial"/>
              </a:rPr>
              <a:t>O cenário atual depende de dados gratuitos; a mudança anunciada pela ANBIMA cria a necessidade de uma fonte contratada e estável.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7AC24-7C3D-47E9-AFAB-9DF83405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333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95FB7-634F-4E10-85F3-062E3AC2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D6082-1D84-4516-B418-34B97C13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525A"/>
                </a:solidFill>
                <a:latin typeface="Arial"/>
                <a:ea typeface="Arial"/>
                <a:cs typeface="Arial"/>
              </a:rPr>
              <a:t>HOJE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5ABC8-5F4D-4FE8-A2CF-83A96FE8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Dados</a:t>
            </a:r>
          </a:p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disponibilizados</a:t>
            </a:r>
          </a:p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gratuitamente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D0BBA-F79F-4EC1-ACDC-B8DE434B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333375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4919A-FBDE-4EC5-BC53-9FE7535A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480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mudança de acesso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175E6-EB97-48E4-AE4E-E5A4167A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3333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4F2E3-4F9D-4A67-A6A1-CF33491A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670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AA7CA-A6EE-461F-822D-E634952B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NECESSIDADE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DB0EE-44DD-4C92-9341-8FCF0C7F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385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Fonte oficial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 automatizável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Renda Fixa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8F0EE-8772-41AD-8676-D67FF164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CFA90-02C4-4CB4-BBF6-5D0CB880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864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74076-AE7F-4B54-A189-F2B207F3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3295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217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Evitar interrupção de rotinas e relatórios internos.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217B4E-6BE3-4A6E-8C46-D586A41E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864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13AD2-FAC5-4464-A71B-FDA609EE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197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667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Reduzir dependência de processos manuais e contingências.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7E9FF7-FCDD-4812-B178-66481871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864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7A6328-C399-4832-8568-D5530120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19750"/>
            <a:ext cx="3248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667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Preservar rastreabilidade e previsibilidade operacional.</a:t>
            </a:r>
          </a:p>
        </p:txBody>
      </p:sp>
    </p:spTree>
    <p:extLst>
      <p:ext uri="{BB962C8B-B14F-4D97-AF65-F5344CB8AC3E}">
        <p14:creationId xmlns:p14="http://schemas.microsoft.com/office/powerpoint/2010/main" val="8862879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198074-9434-48EF-B250-ABAF8520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72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API transforma uma fonte de mercado em infraestrutura interna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FF11E-4591-4206-AF3D-C4A1A9D5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484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5D4A0-60B6-4B32-A7C9-47012F5D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C36AA-ADCC-4235-B492-DE84ED36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4D525A"/>
                </a:solidFill>
                <a:latin typeface="Arial"/>
                <a:ea typeface="Arial"/>
                <a:cs typeface="Arial"/>
              </a:rPr>
              <a:t>A diferença é o modo de operar: acesso pontual versus integração contínua com a base da HDI.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17D65-FB71-4E72-98A0-3A39AB8B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FFE1D-1607-4936-B854-602C4974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Dimensão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7CF3D-A40C-4AEF-9B09-034C6A8E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Situação atual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0D81E-59E7-4B6E-865B-1FF6B9BC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476500"/>
            <a:ext cx="4200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 o ANBIMA Feed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5653C-766E-439A-9F1F-880F3E6C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32C51-E75A-48D9-B9B0-C6897C80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Disponibilidade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A3122-C424-4811-B857-AB282B41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D525A"/>
                </a:solidFill>
                <a:latin typeface="Arial"/>
                <a:ea typeface="Arial"/>
                <a:cs typeface="Arial"/>
              </a:rPr>
              <a:t>Dados gratuitos e sujeitos à mudança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14053-0393-4D93-9FEE-881E906E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971800"/>
            <a:ext cx="4152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Fonte contratada, atualizada e integrada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16ECE-5AF3-4D53-B639-F7948957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3D13B-0614-4FCE-9AEE-CF1DC55A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Processo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4906D-8CF3-4849-BF44-56246F3D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9570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D525A"/>
                </a:solidFill>
                <a:latin typeface="Arial"/>
                <a:ea typeface="Arial"/>
                <a:cs typeface="Arial"/>
              </a:rPr>
              <a:t>Dependência do fluxo atual de coleta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08F42-D7F5-48B6-B5AD-FF55302B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695700"/>
            <a:ext cx="4152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API abastece a própria base de dados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3BD011-1F42-45E6-BE9A-A7F40454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454AA-43DA-471A-A792-6CE30E51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Uso interno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F8C0F-43DF-46D7-AC10-8769AEC5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1960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D525A"/>
                </a:solidFill>
                <a:latin typeface="Arial"/>
                <a:ea typeface="Arial"/>
                <a:cs typeface="Arial"/>
              </a:rPr>
              <a:t>Relatórios e análises com maior fricção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D209AA-8B8D-4562-A64A-8DB0A596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19600"/>
            <a:ext cx="4152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Relatórios, estudos estatísticos e análises mais eficientes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105561-EADD-48EF-9468-1A302CE0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C26555-2341-449B-BBDF-D7629A4A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006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86932B-435D-4A2B-9CC5-D84CC45E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4350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D525A"/>
                </a:solidFill>
                <a:latin typeface="Arial"/>
                <a:ea typeface="Arial"/>
                <a:cs typeface="Arial"/>
              </a:rPr>
              <a:t>Maior exposição a contingências manuais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1C6417-C2BA-4497-9FE7-AB831C7C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143500"/>
            <a:ext cx="4152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Padronização, histórico e rastreabilidade do dado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F16B1E-C2B7-4FD1-857D-A1360A26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483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 objetivo não é distribuir dados ao mercado; é garantir o abastecimento da base própria e dos relatórios internos.</a:t>
            </a:r>
          </a:p>
        </p:txBody>
      </p:sp>
    </p:spTree>
    <p:extLst>
      <p:ext uri="{BB962C8B-B14F-4D97-AF65-F5344CB8AC3E}">
        <p14:creationId xmlns:p14="http://schemas.microsoft.com/office/powerpoint/2010/main" val="16012163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9BA2F9-16B5-49A4-899D-98F9E431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9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 pacote de Títulos Públicos cobre as rotinas críticas de Renda Fixa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212F4-78B0-4B24-82A0-E86B248B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484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B8E79-060A-4D2A-B31A-8256EFD6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E7331-48D1-40A9-BAD2-088A2029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19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4D525A"/>
                </a:solidFill>
                <a:latin typeface="Arial"/>
                <a:ea typeface="Arial"/>
                <a:cs typeface="Arial"/>
              </a:rPr>
              <a:t>A contratação reúne dados de mercado secundário, curvas, intradiário e referências macroeconômicas em uma única camada de integração.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4F6A4-5E20-49E9-B296-D8D78582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2FF47-B1D2-46C0-B583-5428611D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050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Mercado secundário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588BD-3C7A-4BAB-8653-2A17E43F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D525A"/>
                </a:solidFill>
                <a:latin typeface="Arial"/>
                <a:ea typeface="Arial"/>
                <a:cs typeface="Arial"/>
              </a:rPr>
              <a:t>Taxas de compra, venda e indicativa; PU e intervalos indicativos.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648BE-4259-486A-AC76-97CD2E27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336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F7A18-D4E0-429E-82F4-DA809126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050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Valores nominais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D0776-3CC5-4E77-AB12-4C8243A4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8607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D525A"/>
                </a:solidFill>
                <a:latin typeface="Arial"/>
                <a:ea typeface="Arial"/>
                <a:cs typeface="Arial"/>
              </a:rPr>
              <a:t>VNA atualizado para LFT, NTN-B e NTN-C, com código Selic e validade.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ACEA3-BF7A-4A8E-9FF2-582BE480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3FEDF-845F-4E92-9587-B9CBDCB5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Curvas de juros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EE9DB-A794-40EB-9736-4DEB7B24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D525A"/>
                </a:solidFill>
                <a:latin typeface="Arial"/>
                <a:ea typeface="Arial"/>
                <a:cs typeface="Arial"/>
              </a:rPr>
              <a:t>Curvas soberanas zero-cupom prefixadas e atreladas ao IPCA.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7CE91-CB29-40FB-87E0-573345D5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5242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1E192B-998C-4DED-9FCC-5B530BEC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95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Curva intradiária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EDA73-3F14-4BD3-85D4-9F8B6199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767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D525A"/>
                </a:solidFill>
                <a:latin typeface="Arial"/>
                <a:ea typeface="Arial"/>
                <a:cs typeface="Arial"/>
              </a:rPr>
              <a:t>Taxas e vértices extraídos da coleta de spreads ao meio-dia.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205D8B-4743-4BC5-BD98-4ABDCAC2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188281-356F-4160-89A0-B0E651AC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863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Dados intradiários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BD2C0-098E-4570-A4D7-321ADD4D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673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D525A"/>
                </a:solidFill>
                <a:latin typeface="Arial"/>
                <a:ea typeface="Arial"/>
                <a:cs typeface="Arial"/>
              </a:rPr>
              <a:t>PUs e taxas de LTN, NTN-B, NTN-F e NTN-C; observado ou modelado.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901128-D259-40BE-B98A-E3E3EAD4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1487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E76BB1-092D-4F35-BFCA-1729E03F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8863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Difusão e macro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9188C4-4E63-4CAD-A45B-70E4B478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2673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D525A"/>
                </a:solidFill>
                <a:latin typeface="Arial"/>
                <a:ea typeface="Arial"/>
                <a:cs typeface="Arial"/>
              </a:rPr>
              <a:t>Difusão de taxas, estimativa Selic e projeções de IPCA/IGP-M.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F8834A-5CFC-4E15-835C-6383D354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Resultado: uma base única para acompanhar ativos, produzir análises e abastecer relatórios internos.</a:t>
            </a:r>
          </a:p>
        </p:txBody>
      </p:sp>
    </p:spTree>
    <p:extLst>
      <p:ext uri="{BB962C8B-B14F-4D97-AF65-F5344CB8AC3E}">
        <p14:creationId xmlns:p14="http://schemas.microsoft.com/office/powerpoint/2010/main" val="4151797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BCC264-53CB-4586-B12C-50C9B269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API reduz fricção e aumenta o controle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211CA-94E8-472D-BFAD-E9FA9FCF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484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11131-60CA-43E8-86D5-61FA089F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C7518-813F-4DBB-9139-3A504C7B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32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4D525A"/>
                </a:solidFill>
                <a:latin typeface="Arial"/>
                <a:ea typeface="Arial"/>
                <a:cs typeface="Arial"/>
              </a:rPr>
              <a:t>A API cria uma trilha simples entre a informação de mercado e os produtos internos usados pela área de Investimentos.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8E303-1D7A-4091-BA5F-85DBA781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385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BBC0F-BB58-41B8-868D-CA8C9C30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385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D564E-9B2E-46EF-8477-930C364E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385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44DE8-4B94-45DC-BE44-BCA1CF49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21526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EA945-6B7F-48D3-9233-5AF78743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ANBIMA Feed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B04DF-8B9B-437A-B985-8C4FAA27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57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fonte oficial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B04EC-582B-4ECC-99A7-5097E0CC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76500"/>
            <a:ext cx="21526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CF77B-3D8F-40BE-AC41-8F5F3C35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E73D4-70C6-4594-A9A4-694F577D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57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A7395-01D0-4753-A264-9AC8754B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76500"/>
            <a:ext cx="21526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71E20-C67B-4F99-B62A-3E423729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Base interna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F29A9-BF19-48FD-A690-53C8F842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57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D525A"/>
                </a:solidFill>
                <a:latin typeface="Arial"/>
                <a:ea typeface="Arial"/>
                <a:cs typeface="Arial"/>
              </a:rPr>
              <a:t>histórico e padronização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AFC603-EA8B-4F09-BA0B-7839239C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76500"/>
            <a:ext cx="21526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F78C8C-A679-4D4C-A537-90F5739E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1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Relatórios e análises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3D8BA-4676-4D12-9BAE-583CED3B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57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D525A"/>
                </a:solidFill>
                <a:latin typeface="Arial"/>
                <a:ea typeface="Arial"/>
                <a:cs typeface="Arial"/>
              </a:rPr>
              <a:t>decisão e controle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05041-7900-4DC4-B089-872D05B6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39017-DE55-4487-932A-94148BBA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01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1B7E39-74CF-4441-BE45-03771B87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32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Menos coleta e consolidação manual.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435F3A-E98A-4B17-BA53-58BE9B44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101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0A4415-28FC-4525-9C14-E6909BA8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4350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217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Mais consistência entre análise, relatório e histórico.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16A05C-1235-41F9-9253-1389AE9A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101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A4AF25-9BAB-45C5-82A4-D5037EA3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43500"/>
            <a:ext cx="3248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732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Maior previsibilidade para rotinas internas críticas.</a:t>
            </a:r>
          </a:p>
        </p:txBody>
      </p:sp>
    </p:spTree>
    <p:extLst>
      <p:ext uri="{BB962C8B-B14F-4D97-AF65-F5344CB8AC3E}">
        <p14:creationId xmlns:p14="http://schemas.microsoft.com/office/powerpoint/2010/main" val="14884923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85486-6462-4091-92B1-C0695EB7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 plano solicitado é compatível com o uso interno da HDI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AFF11-525D-4CA0-B1EB-DF331108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484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7DB00-3CBD-40DA-8A0B-4078D015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E3589-7650-44C8-8A36-F1385229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835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4D525A"/>
                </a:solidFill>
                <a:latin typeface="Arial"/>
                <a:ea typeface="Arial"/>
                <a:cs typeface="Arial"/>
              </a:rPr>
              <a:t>O desenho do plano Usuário final corresponde ao propósito da contratação: abastecer a própria base e elaborar relatórios internos.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A940B-95AF-480B-B0EB-91215570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4286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B9540-992D-44D2-9E93-EB20CC43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22383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754C5-A164-479D-A14B-87C4D209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2009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PLANO USUÁRIO FINAL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CD1DD-B280-4E44-9FE3-0A710197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a própria base</a:t>
            </a:r>
          </a:p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 dados e relatórios</a:t>
            </a:r>
          </a:p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internos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6298B-CC3E-4B4A-BE28-FDF9DB4B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00300"/>
            <a:ext cx="62484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61DD2-B65B-4BBB-9CBB-3EC20558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432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Por que faz sentido para a HDI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EC753-84AA-4C71-BBF1-B9D4BD72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385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5598B-5CE6-4879-BAFC-7BE539C4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71850"/>
            <a:ext cx="520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392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Somos investidores institucionais com foco em Renda Fixa Brasileira.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E02F92-7ECE-45F7-94D9-2C77CA14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909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B6ED8-3D7F-490C-BB64-FE1B4348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24300"/>
            <a:ext cx="520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22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O consumo esperado é interno: dados, análises, controles e relatórios.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85601-3237-4659-869F-BF230C04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434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0BEC9-C0B5-4977-9F41-641B8191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76750"/>
            <a:ext cx="520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32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Não há necessidade de redistribuir dados brutos para clientes.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D9496-DF8A-443B-AD0E-E672B2D4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62625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7A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7A57"/>
                </a:solidFill>
                <a:latin typeface="Arial"/>
                <a:ea typeface="Arial"/>
                <a:cs typeface="Arial"/>
              </a:rPr>
              <a:t>Importante: o plano não autoriza compartilhamento ou distribuição das informações.</a:t>
            </a:r>
          </a:p>
        </p:txBody>
      </p:sp>
    </p:spTree>
    <p:extLst>
      <p:ext uri="{BB962C8B-B14F-4D97-AF65-F5344CB8AC3E}">
        <p14:creationId xmlns:p14="http://schemas.microsoft.com/office/powerpoint/2010/main" val="12280530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48FFC4-2A80-49C2-8770-EC8ABBCF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 investimento mensal é objetivo; o risco evitado é operacional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A13E7-3A3A-480F-8C4D-3A237F65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484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CBC83-017B-4937-94A1-53BB09B1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8452A-513F-485C-AE2D-92B603ED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1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4D525A"/>
                </a:solidFill>
                <a:latin typeface="Arial"/>
                <a:ea typeface="Arial"/>
                <a:cs typeface="Arial"/>
              </a:rPr>
              <a:t>O material comercial consultado indica o seguinte valor para o pacote de Títulos Públicos no plano Usuário final.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E0EC5-D811-4C56-8114-DEA38EA2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4857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0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5E98B-3A8D-4F46-8090-C260B5FC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409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R$ 686,50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7CA8B-0443-4334-9B98-B6EC5541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por mês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57A76-3CB6-4B81-BA9C-B7C8989A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4D525A"/>
                </a:solidFill>
                <a:latin typeface="Arial"/>
                <a:ea typeface="Arial"/>
                <a:cs typeface="Arial"/>
              </a:rPr>
              <a:t>≈ R$ 8.238 por ano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AAE8F-EC0C-4B52-9BC4-49AFB9B7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43150"/>
            <a:ext cx="57435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81E91-7A1C-49F1-B8D9-B55C3A49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146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87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 que precisa ser validado antes da assinatura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6EBF6-80D2-4D95-AE71-8C360454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956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40729-63D8-46E3-AEAB-C3B3F81B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42900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cotação e vigência comercial atuais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43B3A-7DAB-47FE-B61F-89BFB955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481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0BA7D-70BC-4D4C-BBD4-75FD3875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814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escopo exato do pacote Títulos Públicos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8D98CB-031A-45CC-880F-0436746C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005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78A5B-0B30-4024-ADE7-C26992E5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53390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credenciais, limites e ambiente de sandbox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209B5-33F9-4333-887B-0783B238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62625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525A"/>
                </a:solidFill>
                <a:latin typeface="Arial"/>
                <a:ea typeface="Arial"/>
                <a:cs typeface="Arial"/>
              </a:rPr>
              <a:t>O valor acima é uma referência do PDF comercial armazenado no repositório, não uma cotação atualizada.</a:t>
            </a:r>
          </a:p>
        </p:txBody>
      </p:sp>
    </p:spTree>
    <p:extLst>
      <p:ext uri="{BB962C8B-B14F-4D97-AF65-F5344CB8AC3E}">
        <p14:creationId xmlns:p14="http://schemas.microsoft.com/office/powerpoint/2010/main" val="17542714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1621A-4FA1-4239-B71F-EDED17FC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5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Recomendação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372A2-3B53-4673-B6A5-3A46451D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990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024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Aprovar a contratação do plano Usuário final de Títulos Públicos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B1F50-AF06-4136-B617-A55FB0A8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0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94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4D525A"/>
                </a:solidFill>
                <a:latin typeface="Arial"/>
                <a:ea typeface="Arial"/>
                <a:cs typeface="Arial"/>
              </a:rPr>
              <a:t>A contratação preserva a continuidade do dado, cria uma integração oficial e sustenta as rotinas internas de Renda Fixa.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212E1-4A22-413E-B3FD-8B0B6BBE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72000"/>
            <a:ext cx="800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04091-0E7F-496D-9124-6034A904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006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67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383F0-9601-43EF-95B8-897E5474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Confirmar cotação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289CF-4BEC-4881-A132-F2AD8E5F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006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D525A"/>
                </a:solidFill>
                <a:latin typeface="Arial"/>
                <a:ea typeface="Arial"/>
                <a:cs typeface="Arial"/>
              </a:rPr>
              <a:t>validar preço e escopo atuais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C3898-E280-445C-ACE6-85ED6691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149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67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965D8-A189-4E1A-B899-075DD58F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149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Contratar e provisionar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71CF1-DD0E-4C33-A664-CB9BF761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149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D525A"/>
                </a:solidFill>
                <a:latin typeface="Arial"/>
                <a:ea typeface="Arial"/>
                <a:cs typeface="Arial"/>
              </a:rPr>
              <a:t>credenciais e sandbox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FB4C4-6D5A-4CFE-805D-FE17CD67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293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67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A2956-EF30-457F-A7CC-4ABCBF6F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293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Integrar e acompanhar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C5C84-F101-4529-A3D0-6C11EB8B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0293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D525A"/>
                </a:solidFill>
                <a:latin typeface="Arial"/>
                <a:ea typeface="Arial"/>
                <a:cs typeface="Arial"/>
              </a:rPr>
              <a:t>migrar rotinas e monitorar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6F1324-E156-4142-A7A3-6C10920D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9550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40B11-11FE-4547-B768-A2B2B5F1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90800"/>
            <a:ext cx="1524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67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Fonte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confiável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decidir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0642F-E310-4DE0-805A-EA725279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1912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4D525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D525A"/>
                </a:solidFill>
                <a:latin typeface="Arial"/>
                <a:ea typeface="Arial"/>
                <a:cs typeface="Arial"/>
              </a:rPr>
              <a:t>HDI Seguros | Investimentos</a:t>
            </a:r>
          </a:p>
        </p:txBody>
      </p:sp>
    </p:spTree>
    <p:extLst>
      <p:ext uri="{BB962C8B-B14F-4D97-AF65-F5344CB8AC3E}">
        <p14:creationId xmlns:p14="http://schemas.microsoft.com/office/powerpoint/2010/main" val="1464683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2026-08-07T14:10:12.9020000Z</dcterms:created>
  <dcterms:modified xsi:type="dcterms:W3CDTF">2026-08-07T14:10:12.9020000Z</dcterms:modified>
</coreProperties>
</file>